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8" r:id="rId5"/>
    <p:sldId id="266" r:id="rId6"/>
    <p:sldId id="271" r:id="rId7"/>
    <p:sldId id="267" r:id="rId8"/>
    <p:sldId id="268" r:id="rId9"/>
    <p:sldId id="269" r:id="rId10"/>
    <p:sldId id="270" r:id="rId11"/>
    <p:sldId id="25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FB670-7427-4185-8511-6F36A014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D473D-6081-4804-9B28-4FA7D2C383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9C193-D30F-4B7A-8956-32E4F6D9D2C9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68452-BA11-400A-8E67-C003922CC3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0A332-336E-4B1B-9128-655A1F9DBA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948B1-B6D3-4578-932F-6AE7124E5E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35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AC78B-5884-4D24-983C-916233003E85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B528-7684-4A37-99F6-46340DCC2B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8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 userDrawn="1"/>
        </p:nvSpPr>
        <p:spPr bwMode="auto">
          <a:xfrm>
            <a:off x="11784011" y="345139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8819" y="2270908"/>
            <a:ext cx="7034362" cy="2188992"/>
          </a:xfrm>
        </p:spPr>
        <p:txBody>
          <a:bodyPr anchor="ctr" anchorCtr="0">
            <a:noAutofit/>
          </a:bodyPr>
          <a:lstStyle>
            <a:lvl1pPr algn="ctr">
              <a:lnSpc>
                <a:spcPct val="85000"/>
              </a:lnSpc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6793" y="5024051"/>
            <a:ext cx="7034362" cy="105289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84338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F35A1469-2D5F-4CF6-9A65-876A4BCDDACA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15066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72151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1549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EE1DAB-B868-4EEB-BD54-B9BAB6F58361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377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88A9-102E-4111-86E0-D51E9CB704AA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993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78772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BD67-B37A-4DEF-9054-A91A6B18355E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1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983FCBB-03A1-486A-BDE2-92BD88EA0FC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29006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136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3432B8B-A85D-47CE-98BC-3DF0B2F26AF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5400" y="431747"/>
            <a:ext cx="5105400" cy="68463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88800" y="1468316"/>
            <a:ext cx="4831664" cy="3865070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35B7-901B-460F-BE63-E630BF7AD92D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416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62000" y="305678"/>
            <a:ext cx="10667998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1C1E-44EC-4ED6-87AC-7B26C9BC7568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F3C3132-3E24-455C-9341-F3767C087D5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2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78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C8E5ED0-7922-414F-9B0F-CA82F0A3C660}"/>
              </a:ext>
            </a:extLst>
          </p:cNvPr>
          <p:cNvSpPr/>
          <p:nvPr userDrawn="1"/>
        </p:nvSpPr>
        <p:spPr>
          <a:xfrm>
            <a:off x="0" y="1540330"/>
            <a:ext cx="12192000" cy="47156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8571" y="6314440"/>
            <a:ext cx="3814856" cy="365125"/>
          </a:xfrm>
        </p:spPr>
        <p:txBody>
          <a:bodyPr/>
          <a:lstStyle/>
          <a:p>
            <a:fld id="{4AE13B8D-7A39-483F-9092-AB66B2338492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4C76CE-242A-40DC-B9BA-9F6CD2FEB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761999" y="280278"/>
            <a:ext cx="10676571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89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352848"/>
            <a:ext cx="10667998" cy="1002422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8724" y="1534886"/>
            <a:ext cx="2581273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B421F-7852-47A7-8672-3F4B3DC607FF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0" y="1534886"/>
            <a:ext cx="7829550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47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768376-ED37-468E-9A28-4A8C73222CFB}"/>
              </a:ext>
            </a:extLst>
          </p:cNvPr>
          <p:cNvSpPr/>
          <p:nvPr userDrawn="1"/>
        </p:nvSpPr>
        <p:spPr>
          <a:xfrm>
            <a:off x="5263637" y="0"/>
            <a:ext cx="692836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E990-BAB9-4562-95E3-50660C2796F3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EDD3AEB-5731-4BFB-B455-2CAA76BB8C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2695" y="358646"/>
            <a:ext cx="5505450" cy="5896056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noProof="0">
                <a:cs typeface="Segoe UI" panose="020B0502040204020203" pitchFamily="34" charset="0"/>
              </a:rPr>
              <a:t>Edit Master text styles</a:t>
            </a:r>
          </a:p>
        </p:txBody>
      </p:sp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F054F317-CFFE-48EF-91D4-872C9FE7043D}"/>
              </a:ext>
            </a:extLst>
          </p:cNvPr>
          <p:cNvSpPr/>
          <p:nvPr userDrawn="1"/>
        </p:nvSpPr>
        <p:spPr bwMode="auto">
          <a:xfrm>
            <a:off x="11793378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D58896D-DB7B-49E4-87EC-67CEAB2EF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570" y="548792"/>
            <a:ext cx="3833906" cy="4952492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1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054D9-7800-4106-9C2D-E383D9D6A16D}"/>
              </a:ext>
            </a:extLst>
          </p:cNvPr>
          <p:cNvSpPr/>
          <p:nvPr userDrawn="1"/>
        </p:nvSpPr>
        <p:spPr>
          <a:xfrm>
            <a:off x="6901869" y="0"/>
            <a:ext cx="529336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EBBCD-CBA1-4D0B-806D-FC14D8656200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6659" y="688779"/>
            <a:ext cx="5746376" cy="522307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213600" y="280278"/>
            <a:ext cx="4641006" cy="2397608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Freeform 6" title="Page Number Shape">
            <a:extLst>
              <a:ext uri="{FF2B5EF4-FFF2-40B4-BE49-F238E27FC236}">
                <a16:creationId xmlns:a16="http://schemas.microsoft.com/office/drawing/2014/main" id="{B162E9BD-1CEB-41D5-8DEB-7C5EDF3B01C3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6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6767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651A72-6E17-4CF4-8218-285FCAC88E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181600" y="557784"/>
            <a:ext cx="6248400" cy="230796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2A31231-1080-4CC0-9896-EF779EE27C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65121" y="2950589"/>
            <a:ext cx="6188679" cy="256324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327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952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2D3B-BB2C-4EA8-8616-6D874F8BB777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9539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036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5F786-D848-499D-B37D-96CF11DE9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55480"/>
            <a:ext cx="6246812" cy="5305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26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9E139DA8-D636-4336-B416-25DD0050B639}" type="datetime8">
              <a:rPr lang="en-US" noProof="0" smtClean="0"/>
              <a:t>9/26/2024 4:14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87179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8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62" r:id="rId3"/>
    <p:sldLayoutId id="2147483673" r:id="rId4"/>
    <p:sldLayoutId id="2147483677" r:id="rId5"/>
    <p:sldLayoutId id="2147483674" r:id="rId6"/>
    <p:sldLayoutId id="2147483679" r:id="rId7"/>
    <p:sldLayoutId id="2147483678" r:id="rId8"/>
    <p:sldLayoutId id="2147483676" r:id="rId9"/>
    <p:sldLayoutId id="2147483675" r:id="rId10"/>
    <p:sldLayoutId id="2147483665" r:id="rId11"/>
    <p:sldLayoutId id="2147483682" r:id="rId12"/>
    <p:sldLayoutId id="2147483681" r:id="rId13"/>
    <p:sldLayoutId id="2147483667" r:id="rId14"/>
    <p:sldLayoutId id="2147483668" r:id="rId15"/>
    <p:sldLayoutId id="2147483680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15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7348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acher">
            <a:extLst>
              <a:ext uri="{FF2B5EF4-FFF2-40B4-BE49-F238E27FC236}">
                <a16:creationId xmlns:a16="http://schemas.microsoft.com/office/drawing/2014/main" id="{55999741-3CB0-4E9F-9B1F-47F7BDC2D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76" y="0"/>
            <a:ext cx="12240000" cy="6906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78B3CD-9828-4280-95EC-5F9D73400FF8}"/>
              </a:ext>
            </a:extLst>
          </p:cNvPr>
          <p:cNvSpPr>
            <a:spLocks noGrp="1"/>
          </p:cNvSpPr>
          <p:nvPr>
            <p:ph type="ctrTitle"/>
          </p:nvPr>
        </p:nvSpPr>
        <p:spPr bwMode="white"/>
        <p:txBody>
          <a:bodyPr/>
          <a:lstStyle/>
          <a:p>
            <a:r>
              <a:rPr lang="en-US" sz="8000" dirty="0" smtClean="0">
                <a:solidFill>
                  <a:schemeClr val="tx1"/>
                </a:solidFill>
              </a:rPr>
              <a:t>Self Learning </a:t>
            </a:r>
            <a:br>
              <a:rPr lang="en-US" sz="8000" dirty="0" smtClean="0">
                <a:solidFill>
                  <a:schemeClr val="tx1"/>
                </a:solidFill>
              </a:rPr>
            </a:br>
            <a:r>
              <a:rPr lang="en-US" sz="8000" dirty="0" smtClean="0">
                <a:solidFill>
                  <a:srgbClr val="00B0F0"/>
                </a:solidFill>
              </a:rPr>
              <a:t>101</a:t>
            </a:r>
            <a:endParaRPr lang="en-US" sz="8000" dirty="0">
              <a:solidFill>
                <a:srgbClr val="00B0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A3178-CB65-4687-BC8A-DBB6F3C6E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cs typeface="Segoe UI" panose="020B0502040204020203" pitchFamily="34" charset="0"/>
              </a:rPr>
              <a:t>Programming </a:t>
            </a:r>
            <a:endParaRPr lang="en-US" sz="32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cs typeface="Segoe UI" panose="020B0502040204020203" pitchFamily="34" charset="0"/>
              </a:rPr>
              <a:t>An Artificial Brain</a:t>
            </a:r>
            <a:endParaRPr lang="en-US" sz="3200" dirty="0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92D9B22-CA63-4CDB-8957-40947F45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8C1723-6BE3-4292-90F2-43C7A22F50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 bwMode="white">
          <a:xfrm>
            <a:off x="2407627" y="1184031"/>
            <a:ext cx="7376746" cy="4149970"/>
            <a:chOff x="2989385" y="1679331"/>
            <a:chExt cx="7376746" cy="268165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F9A4E4-33FF-4BA5-9A1C-6E8B73621BEB}"/>
                </a:ext>
              </a:extLst>
            </p:cNvPr>
            <p:cNvCxnSpPr/>
            <p:nvPr/>
          </p:nvCxnSpPr>
          <p:spPr bwMode="white">
            <a:xfrm>
              <a:off x="2989385" y="1679331"/>
              <a:ext cx="737674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9168D7F-9049-4135-9731-02DB8D3CD4C9}"/>
                </a:ext>
              </a:extLst>
            </p:cNvPr>
            <p:cNvCxnSpPr/>
            <p:nvPr/>
          </p:nvCxnSpPr>
          <p:spPr bwMode="white">
            <a:xfrm>
              <a:off x="10366130" y="1688123"/>
              <a:ext cx="0" cy="2672862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19D412-8FFA-4958-A76C-EB9E1F690AD9}"/>
                </a:ext>
              </a:extLst>
            </p:cNvPr>
            <p:cNvCxnSpPr/>
            <p:nvPr/>
          </p:nvCxnSpPr>
          <p:spPr bwMode="white">
            <a:xfrm>
              <a:off x="2989385" y="1679331"/>
              <a:ext cx="0" cy="26748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5B0E36-8696-452F-958E-984FBF104D99}"/>
                </a:ext>
              </a:extLst>
            </p:cNvPr>
            <p:cNvCxnSpPr/>
            <p:nvPr/>
          </p:nvCxnSpPr>
          <p:spPr bwMode="white">
            <a:xfrm>
              <a:off x="2989385" y="4354131"/>
              <a:ext cx="1740877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3F49821-5888-450B-ABA1-D4D7B73EC2AB}"/>
                </a:ext>
              </a:extLst>
            </p:cNvPr>
            <p:cNvCxnSpPr/>
            <p:nvPr/>
          </p:nvCxnSpPr>
          <p:spPr bwMode="white">
            <a:xfrm>
              <a:off x="8625254" y="4360985"/>
              <a:ext cx="1740877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51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6D27-68F1-47B9-A6E0-2CEAFAEB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15" y="875479"/>
            <a:ext cx="3833906" cy="1970763"/>
          </a:xfrm>
        </p:spPr>
        <p:txBody>
          <a:bodyPr/>
          <a:lstStyle/>
          <a:p>
            <a:pPr algn="ctr"/>
            <a:r>
              <a:rPr lang="en-US" dirty="0" smtClean="0"/>
              <a:t>How do we learn?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2A6366-FF6C-47F2-B842-B9F516ACC7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85800" y="2791133"/>
            <a:ext cx="3833906" cy="2611038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785195-F603-446F-BDF7-58608605AB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2616005" y="3114836"/>
            <a:ext cx="0" cy="1872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F04472FF-5CE9-4C28-A4FF-E178C31EC5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47050" y="1001367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6C871-D206-4292-AECC-3EBF29BE656A}"/>
              </a:ext>
            </a:extLst>
          </p:cNvPr>
          <p:cNvSpPr txBox="1"/>
          <p:nvPr/>
        </p:nvSpPr>
        <p:spPr>
          <a:xfrm>
            <a:off x="5732584" y="1024666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14446E-8D49-40FF-8036-3BE0DA8E5B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47050" y="1908604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E3861-81FF-4843-A74C-8C4C7AE9AA66}"/>
              </a:ext>
            </a:extLst>
          </p:cNvPr>
          <p:cNvSpPr txBox="1"/>
          <p:nvPr/>
        </p:nvSpPr>
        <p:spPr>
          <a:xfrm>
            <a:off x="5723792" y="194254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A882D0-618F-4C0E-BCB7-2590F78078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47050" y="3308057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23F82-8FBB-4514-9D10-63CF6BF149CC}"/>
              </a:ext>
            </a:extLst>
          </p:cNvPr>
          <p:cNvSpPr txBox="1"/>
          <p:nvPr/>
        </p:nvSpPr>
        <p:spPr>
          <a:xfrm>
            <a:off x="5723792" y="3348940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E93AB5-365F-4AC2-8A09-4551050645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47050" y="4699136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65983-80A0-4016-821C-2FFE79B6A9D3}"/>
              </a:ext>
            </a:extLst>
          </p:cNvPr>
          <p:cNvSpPr txBox="1"/>
          <p:nvPr/>
        </p:nvSpPr>
        <p:spPr>
          <a:xfrm>
            <a:off x="5723792" y="4722435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0876D-147F-4718-97A1-D749D03B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We explore out of </a:t>
            </a:r>
            <a:r>
              <a:rPr lang="en-US" sz="3200" dirty="0" smtClean="0">
                <a:solidFill>
                  <a:schemeClr val="bg1"/>
                </a:solidFill>
                <a:cs typeface="Segoe UI" panose="020B0502040204020203" pitchFamily="34" charset="0"/>
              </a:rPr>
              <a:t>curiosity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We make an action that we are capable of and feels </a:t>
            </a:r>
            <a:r>
              <a:rPr lang="en-US" sz="3200" dirty="0" smtClean="0">
                <a:solidFill>
                  <a:schemeClr val="bg1"/>
                </a:solidFill>
                <a:cs typeface="Segoe UI" panose="020B0502040204020203" pitchFamily="34" charset="0"/>
              </a:rPr>
              <a:t>best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We receive a certain </a:t>
            </a:r>
            <a:r>
              <a:rPr lang="en-US" sz="3200" dirty="0" smtClean="0">
                <a:solidFill>
                  <a:schemeClr val="bg1"/>
                </a:solidFill>
                <a:cs typeface="Segoe UI" panose="020B0502040204020203" pitchFamily="34" charset="0"/>
              </a:rPr>
              <a:t>response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 (positive or negative)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We associate that action with the response and </a:t>
            </a:r>
            <a:r>
              <a:rPr lang="en-US" sz="3200" dirty="0" smtClean="0">
                <a:solidFill>
                  <a:schemeClr val="bg1"/>
                </a:solidFill>
                <a:cs typeface="Segoe UI" panose="020B0502040204020203" pitchFamily="34" charset="0"/>
              </a:rPr>
              <a:t>remember</a:t>
            </a:r>
            <a:endParaRPr lang="en-US" sz="32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778235" y="3382691"/>
            <a:ext cx="1427922" cy="142792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72" y="3382691"/>
            <a:ext cx="1430009" cy="143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4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13600" y="915437"/>
            <a:ext cx="4641006" cy="2397608"/>
          </a:xfrm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Reinforcement</a:t>
            </a:r>
            <a:br>
              <a:rPr lang="en-IN" dirty="0" smtClean="0">
                <a:solidFill>
                  <a:schemeClr val="bg1"/>
                </a:solidFill>
              </a:rPr>
            </a:br>
            <a:r>
              <a:rPr lang="en-IN" dirty="0" smtClean="0">
                <a:solidFill>
                  <a:schemeClr val="bg1"/>
                </a:solidFill>
              </a:rPr>
              <a:t>Learning</a:t>
            </a:r>
            <a:br>
              <a:rPr lang="en-IN" dirty="0" smtClean="0">
                <a:solidFill>
                  <a:schemeClr val="bg1"/>
                </a:solidFill>
              </a:rPr>
            </a:br>
            <a:r>
              <a:rPr lang="en-IN" dirty="0" smtClean="0">
                <a:solidFill>
                  <a:srgbClr val="00B0F0"/>
                </a:solidFill>
              </a:rPr>
              <a:t>101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32416" y="3508396"/>
            <a:ext cx="38033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chemeClr val="accent1"/>
                </a:solidFill>
              </a:rPr>
              <a:t>An </a:t>
            </a:r>
            <a:r>
              <a:rPr lang="en-US" sz="2000" dirty="0">
                <a:solidFill>
                  <a:schemeClr val="accent1"/>
                </a:solidFill>
              </a:rPr>
              <a:t>agent interacts with the environment by taking actions, which yield rewards or penalties based on the outcomes. The ultimate goal of the agent is to learn a policy that maximizes its cumulative reward over </a:t>
            </a:r>
            <a:r>
              <a:rPr lang="en-US" sz="2000" dirty="0" smtClean="0">
                <a:solidFill>
                  <a:schemeClr val="accent1"/>
                </a:solidFill>
              </a:rPr>
              <a:t>time</a:t>
            </a:r>
            <a:r>
              <a:rPr lang="en-IN" sz="2000" dirty="0" smtClean="0">
                <a:solidFill>
                  <a:schemeClr val="accent1"/>
                </a:solidFill>
              </a:rPr>
              <a:t>.</a:t>
            </a:r>
            <a:endParaRPr lang="en-IN" sz="2000" dirty="0">
              <a:solidFill>
                <a:schemeClr val="accent1"/>
              </a:solidFill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344556" y="804666"/>
            <a:ext cx="633454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learner or decision-maker.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Environment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space in which the agent operates.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Choices made by the agent that affect the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Rewards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Feedback from the environment based on actions taken.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Strategy used by the agent to decide actions based on the current state.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Goal is to find optimal policy,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consideration that there exists a set of possible actions for each state that yields maximum reward and is the desirable choice.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3980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46EC-1FC7-4065-BC98-F8A55E53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15" y="755741"/>
            <a:ext cx="3833906" cy="227877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VARIANTS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OF RL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40E108-43C3-4816-91FB-4F3FE893D4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02273" y="2877104"/>
            <a:ext cx="3833906" cy="26110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19A5BD-5ED6-420D-9845-C32F172567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11110" y="543013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8" name="TextBox 7" descr="decorative element">
            <a:extLst>
              <a:ext uri="{FF2B5EF4-FFF2-40B4-BE49-F238E27FC236}">
                <a16:creationId xmlns:a16="http://schemas.microsoft.com/office/drawing/2014/main" id="{899BC040-0D5E-4E6E-8E95-6B710CABCAF8}"/>
              </a:ext>
            </a:extLst>
          </p:cNvPr>
          <p:cNvSpPr txBox="1"/>
          <p:nvPr/>
        </p:nvSpPr>
        <p:spPr>
          <a:xfrm>
            <a:off x="5677594" y="566312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0D6914-3231-4EEA-BA0E-6EB9635E2C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11110" y="143004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0" name="TextBox 9" descr="decorative element">
            <a:extLst>
              <a:ext uri="{FF2B5EF4-FFF2-40B4-BE49-F238E27FC236}">
                <a16:creationId xmlns:a16="http://schemas.microsoft.com/office/drawing/2014/main" id="{DF6C2EE1-FB2F-4893-B2BE-552195DFE5F3}"/>
              </a:ext>
            </a:extLst>
          </p:cNvPr>
          <p:cNvSpPr txBox="1"/>
          <p:nvPr/>
        </p:nvSpPr>
        <p:spPr>
          <a:xfrm>
            <a:off x="5687852" y="1453348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A7A1F3-DF16-4906-AB99-7271A62BD3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11110" y="2300204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2" name="TextBox 11" descr="decorative element">
            <a:extLst>
              <a:ext uri="{FF2B5EF4-FFF2-40B4-BE49-F238E27FC236}">
                <a16:creationId xmlns:a16="http://schemas.microsoft.com/office/drawing/2014/main" id="{C8F3A396-1948-4D35-BEE9-CC6CB08D2788}"/>
              </a:ext>
            </a:extLst>
          </p:cNvPr>
          <p:cNvSpPr txBox="1"/>
          <p:nvPr/>
        </p:nvSpPr>
        <p:spPr>
          <a:xfrm>
            <a:off x="5687852" y="2332295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B39FAF-E8F3-4DC0-85F2-0F3005FA85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11110" y="316416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4" name="TextBox 13" descr="decorative element">
            <a:extLst>
              <a:ext uri="{FF2B5EF4-FFF2-40B4-BE49-F238E27FC236}">
                <a16:creationId xmlns:a16="http://schemas.microsoft.com/office/drawing/2014/main" id="{D662B18B-C838-45CE-B43E-32C743E13974}"/>
              </a:ext>
            </a:extLst>
          </p:cNvPr>
          <p:cNvSpPr txBox="1"/>
          <p:nvPr/>
        </p:nvSpPr>
        <p:spPr>
          <a:xfrm>
            <a:off x="5679060" y="3200720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075E26-5BF9-40ED-9945-45C65E2A44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11110" y="4055266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6" name="TextBox 15" descr="decorative element">
            <a:extLst>
              <a:ext uri="{FF2B5EF4-FFF2-40B4-BE49-F238E27FC236}">
                <a16:creationId xmlns:a16="http://schemas.microsoft.com/office/drawing/2014/main" id="{BB8F23EE-E31D-4666-AAD5-11B6D6D93B40}"/>
              </a:ext>
            </a:extLst>
          </p:cNvPr>
          <p:cNvSpPr txBox="1"/>
          <p:nvPr/>
        </p:nvSpPr>
        <p:spPr>
          <a:xfrm>
            <a:off x="5678327" y="4094922"/>
            <a:ext cx="33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CD21D3-7FB6-4316-907B-8558B54F87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611110" y="5395757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8" name="TextBox 17" descr="decorative element">
            <a:extLst>
              <a:ext uri="{FF2B5EF4-FFF2-40B4-BE49-F238E27FC236}">
                <a16:creationId xmlns:a16="http://schemas.microsoft.com/office/drawing/2014/main" id="{D656F6A6-7C3C-4EF2-94D1-42D0DD1BD9F0}"/>
              </a:ext>
            </a:extLst>
          </p:cNvPr>
          <p:cNvSpPr txBox="1"/>
          <p:nvPr/>
        </p:nvSpPr>
        <p:spPr>
          <a:xfrm>
            <a:off x="5677594" y="541644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51964-E2BB-4A8E-95FD-73EF52089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703" y="476644"/>
            <a:ext cx="5505450" cy="5896056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000" dirty="0" smtClean="0">
                <a:solidFill>
                  <a:prstClr val="black"/>
                </a:solidFill>
              </a:rPr>
              <a:t>Markov Decision Process</a:t>
            </a:r>
            <a:endParaRPr lang="en-US" sz="30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000" dirty="0" smtClean="0">
                <a:solidFill>
                  <a:prstClr val="black"/>
                </a:solidFill>
              </a:rPr>
              <a:t>Q-Learning</a:t>
            </a:r>
            <a:endParaRPr lang="en-US" sz="30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000" dirty="0" smtClean="0">
                <a:solidFill>
                  <a:prstClr val="black"/>
                </a:solidFill>
              </a:rPr>
              <a:t>Policy Gradient Methods</a:t>
            </a:r>
            <a:endParaRPr lang="en-US" sz="30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000" dirty="0" smtClean="0">
                <a:solidFill>
                  <a:prstClr val="black"/>
                </a:solidFill>
              </a:rPr>
              <a:t>Actor-Critic Methods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000" dirty="0">
                <a:solidFill>
                  <a:prstClr val="black"/>
                </a:solidFill>
              </a:rPr>
              <a:t>Multi-Agent Reinforcement Learning (MARL</a:t>
            </a:r>
            <a:r>
              <a:rPr lang="en-US" sz="3000" dirty="0" smtClean="0">
                <a:solidFill>
                  <a:prstClr val="black"/>
                </a:solidFill>
              </a:rPr>
              <a:t>)</a:t>
            </a:r>
          </a:p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000" dirty="0" smtClean="0">
                <a:solidFill>
                  <a:prstClr val="black"/>
                </a:solidFill>
              </a:rPr>
              <a:t>Deep Reinforcement Learning (DRL)</a:t>
            </a:r>
            <a:endParaRPr lang="en-US" sz="3000" dirty="0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19959" y="3206710"/>
            <a:ext cx="1998534" cy="176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4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/>
              <a:t>SHELTER IN PLACE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E5B2B2-0684-4BD8-9A66-EEE670977A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182367" y="1825836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42DF4-4EE3-4660-9BDC-D1E1707D98BC}"/>
              </a:ext>
            </a:extLst>
          </p:cNvPr>
          <p:cNvSpPr txBox="1"/>
          <p:nvPr/>
        </p:nvSpPr>
        <p:spPr>
          <a:xfrm>
            <a:off x="2249679" y="185593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1C65-5310-42F3-BA62-63E7E01D96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2400" dirty="0"/>
              <a:t>Door closed </a:t>
            </a:r>
            <a:br>
              <a:rPr lang="en-US" sz="2400" dirty="0"/>
            </a:br>
            <a:r>
              <a:rPr lang="en-US" sz="2400" dirty="0"/>
              <a:t>and locked</a:t>
            </a:r>
          </a:p>
          <a:p>
            <a:pPr marL="0" lv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22" name="Graphic 21" descr="door icon">
            <a:extLst>
              <a:ext uri="{FF2B5EF4-FFF2-40B4-BE49-F238E27FC236}">
                <a16:creationId xmlns:a16="http://schemas.microsoft.com/office/drawing/2014/main" id="{62B5039C-9F73-4097-A7C3-A89E805CE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64318" y="4028954"/>
            <a:ext cx="1620000" cy="1620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98F9BDC-F173-4590-A94B-9747D47167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855273" y="1825836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24239-D4DF-4D00-AF5F-B08E7F4284D0}"/>
              </a:ext>
            </a:extLst>
          </p:cNvPr>
          <p:cNvSpPr txBox="1"/>
          <p:nvPr/>
        </p:nvSpPr>
        <p:spPr>
          <a:xfrm>
            <a:off x="5928910" y="185593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B3829-6AFB-41B3-A1B4-EF5B1CE000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1999" y="2443527"/>
            <a:ext cx="3348000" cy="126000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2400" dirty="0"/>
              <a:t>Windows covered, closed, and locked</a:t>
            </a:r>
          </a:p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3" name="Graphic 12" descr="window icon">
            <a:extLst>
              <a:ext uri="{FF2B5EF4-FFF2-40B4-BE49-F238E27FC236}">
                <a16:creationId xmlns:a16="http://schemas.microsoft.com/office/drawing/2014/main" id="{1305288D-76D3-4AD1-8C89-DD8E87F76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100316" y="3843271"/>
            <a:ext cx="1991366" cy="199136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37BAB53-DA38-4DD5-9A3E-8152A042F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520046" y="1825836"/>
            <a:ext cx="468000" cy="4680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695A3-1853-4E49-84FD-FE5CBABEF961}"/>
              </a:ext>
            </a:extLst>
          </p:cNvPr>
          <p:cNvSpPr txBox="1"/>
          <p:nvPr/>
        </p:nvSpPr>
        <p:spPr>
          <a:xfrm>
            <a:off x="9587358" y="185593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1F8476-CA40-4F5D-BFDF-703563EA67E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85590" y="2443527"/>
            <a:ext cx="3993266" cy="2291676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2400" dirty="0"/>
              <a:t>Students may only move around the building </a:t>
            </a:r>
            <a:br>
              <a:rPr lang="en-US" sz="2400" dirty="0"/>
            </a:br>
            <a:r>
              <a:rPr lang="en-US" sz="2400" dirty="0"/>
              <a:t>escorted by an adult</a:t>
            </a:r>
          </a:p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5" name="Graphic 14" descr="two  people holding hands icon">
            <a:extLst>
              <a:ext uri="{FF2B5EF4-FFF2-40B4-BE49-F238E27FC236}">
                <a16:creationId xmlns:a16="http://schemas.microsoft.com/office/drawing/2014/main" id="{C8A04A15-6CD6-B943-8223-46AC402024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800424" y="3988215"/>
            <a:ext cx="1763598" cy="1763598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80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055D10-5B53-4AB5-B108-CAEA2CCD74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465544" y="2123481"/>
            <a:ext cx="3833906" cy="26110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Graphic 18" descr="Lock ">
            <a:extLst>
              <a:ext uri="{FF2B5EF4-FFF2-40B4-BE49-F238E27FC236}">
                <a16:creationId xmlns:a16="http://schemas.microsoft.com/office/drawing/2014/main" id="{C520D2E6-95D1-461F-929A-7BFE4A7C7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828980" y="3807547"/>
            <a:ext cx="1080000" cy="1080000"/>
          </a:xfrm>
          <a:prstGeom prst="rect">
            <a:avLst/>
          </a:prstGeom>
        </p:spPr>
      </p:pic>
      <p:pic>
        <p:nvPicPr>
          <p:cNvPr id="21" name="Graphic 20" descr="Shelter">
            <a:extLst>
              <a:ext uri="{FF2B5EF4-FFF2-40B4-BE49-F238E27FC236}">
                <a16:creationId xmlns:a16="http://schemas.microsoft.com/office/drawing/2014/main" id="{CA85CBB6-D995-4867-9F42-79E0FE448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684980" y="2079672"/>
            <a:ext cx="1224000" cy="12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69061B-93AF-4A3E-9D95-D1F4A2B9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LOCK DOWN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050939-D8BA-4932-A12D-76E1C8DB0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421224" y="1756455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9" name="TextBox 8" descr="decorative element">
            <a:extLst>
              <a:ext uri="{FF2B5EF4-FFF2-40B4-BE49-F238E27FC236}">
                <a16:creationId xmlns:a16="http://schemas.microsoft.com/office/drawing/2014/main" id="{203CBBBF-0B81-4DFD-BF97-EB2A57EFB9A8}"/>
              </a:ext>
            </a:extLst>
          </p:cNvPr>
          <p:cNvSpPr txBox="1"/>
          <p:nvPr/>
        </p:nvSpPr>
        <p:spPr>
          <a:xfrm>
            <a:off x="6487708" y="1779754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A05C8E-8DB2-4A35-8654-BC76A6BEFD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421224" y="2487916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1" name="TextBox 10" descr="decorative element">
            <a:extLst>
              <a:ext uri="{FF2B5EF4-FFF2-40B4-BE49-F238E27FC236}">
                <a16:creationId xmlns:a16="http://schemas.microsoft.com/office/drawing/2014/main" id="{4EF9D577-2886-4CDA-B921-E2B2C3ACB335}"/>
              </a:ext>
            </a:extLst>
          </p:cNvPr>
          <p:cNvSpPr txBox="1"/>
          <p:nvPr/>
        </p:nvSpPr>
        <p:spPr>
          <a:xfrm>
            <a:off x="6497966" y="2511215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479838-5C1C-498A-A57F-23C902B640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421224" y="3196146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3" name="TextBox 12" descr="decorative element">
            <a:extLst>
              <a:ext uri="{FF2B5EF4-FFF2-40B4-BE49-F238E27FC236}">
                <a16:creationId xmlns:a16="http://schemas.microsoft.com/office/drawing/2014/main" id="{4F0FB908-D139-41C0-A768-4CC591531971}"/>
              </a:ext>
            </a:extLst>
          </p:cNvPr>
          <p:cNvSpPr txBox="1"/>
          <p:nvPr/>
        </p:nvSpPr>
        <p:spPr>
          <a:xfrm>
            <a:off x="6497966" y="3228237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6CE282-77A8-4C84-93B8-1246EED129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421224" y="3924138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5" name="TextBox 14" descr="decorative element">
            <a:extLst>
              <a:ext uri="{FF2B5EF4-FFF2-40B4-BE49-F238E27FC236}">
                <a16:creationId xmlns:a16="http://schemas.microsoft.com/office/drawing/2014/main" id="{C2B65381-12B7-4DB7-B5B0-5CF6293348B5}"/>
              </a:ext>
            </a:extLst>
          </p:cNvPr>
          <p:cNvSpPr txBox="1"/>
          <p:nvPr/>
        </p:nvSpPr>
        <p:spPr>
          <a:xfrm>
            <a:off x="6489174" y="3947437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D6078F-F5C0-4700-84EC-89FE50E352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421224" y="4646408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7" name="TextBox 16" descr="decorative element">
            <a:extLst>
              <a:ext uri="{FF2B5EF4-FFF2-40B4-BE49-F238E27FC236}">
                <a16:creationId xmlns:a16="http://schemas.microsoft.com/office/drawing/2014/main" id="{2160777B-9AE2-48D8-A288-45695679DCD0}"/>
              </a:ext>
            </a:extLst>
          </p:cNvPr>
          <p:cNvSpPr txBox="1"/>
          <p:nvPr/>
        </p:nvSpPr>
        <p:spPr>
          <a:xfrm>
            <a:off x="6488441" y="467849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4A029-8AD0-4A10-B977-541CE5DD06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829175" y="1512047"/>
            <a:ext cx="6934199" cy="3833906"/>
          </a:xfrm>
          <a:prstGeom prst="roundRect">
            <a:avLst>
              <a:gd name="adj" fmla="val 0"/>
            </a:avLst>
          </a:prstGeom>
          <a:noFill/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57AAF-C78F-46C2-9727-8076925C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Lights out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Door locked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Hide under the tables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Chair pulled toward you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prstClr val="black">
                    <a:lumMod val="85000"/>
                    <a:lumOff val="15000"/>
                  </a:prstClr>
                </a:solidFill>
                <a:cs typeface="Segoe UI" panose="020B0502040204020203" pitchFamily="34" charset="0"/>
              </a:rPr>
              <a:t>No talking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2FC0-087E-4C53-82C7-1D7555E6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12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FF9D-FA38-4BF2-834F-D115A5276A63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/>
          <a:lstStyle/>
          <a:p>
            <a:r>
              <a:rPr lang="en-US" dirty="0"/>
              <a:t>WEATHER EMERGENCY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35AEFA-F289-46D0-BBE8-3BB779BF05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>
          <a:xfrm>
            <a:off x="2099452" y="1891541"/>
            <a:ext cx="683280" cy="68328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4D6B3-A5C3-45B7-BC39-889CA7ED1D34}"/>
              </a:ext>
            </a:extLst>
          </p:cNvPr>
          <p:cNvSpPr txBox="1"/>
          <p:nvPr/>
        </p:nvSpPr>
        <p:spPr>
          <a:xfrm>
            <a:off x="2234176" y="1912856"/>
            <a:ext cx="333375" cy="58477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9F8A20-BC4A-4DA3-8C8F-EC5F435450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3000" dirty="0"/>
              <a:t>Know the safety zone</a:t>
            </a:r>
          </a:p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0C167E-2525-4786-B676-2BB45CCD9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>
          <a:xfrm>
            <a:off x="9385732" y="1891181"/>
            <a:ext cx="684000" cy="684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56C5D-8989-43C6-972E-3DB66D9996AE}"/>
              </a:ext>
            </a:extLst>
          </p:cNvPr>
          <p:cNvSpPr txBox="1"/>
          <p:nvPr/>
        </p:nvSpPr>
        <p:spPr>
          <a:xfrm>
            <a:off x="9522945" y="1922834"/>
            <a:ext cx="333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3D9163-4861-465C-A2A4-AEAABF83136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solidFill>
                  <a:prstClr val="black"/>
                </a:solidFill>
              </a:rPr>
              <a:t>Move quickly and quietly to the safety zone</a:t>
            </a:r>
          </a:p>
          <a:p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4F82B2-998D-4DFD-AAB8-8D5E996F91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013568" y="2574821"/>
            <a:ext cx="3833906" cy="26110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 descr="Alarm/Siren">
            <a:extLst>
              <a:ext uri="{FF2B5EF4-FFF2-40B4-BE49-F238E27FC236}">
                <a16:creationId xmlns:a16="http://schemas.microsoft.com/office/drawing/2014/main" id="{82E89ACE-2360-4F71-9604-7B9F9FA3E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378933" y="3429000"/>
            <a:ext cx="828000" cy="828000"/>
          </a:xfrm>
          <a:prstGeom prst="rect">
            <a:avLst/>
          </a:prstGeom>
        </p:spPr>
      </p:pic>
      <p:pic>
        <p:nvPicPr>
          <p:cNvPr id="7" name="Graphic 6" descr="Weather Shelter ">
            <a:extLst>
              <a:ext uri="{FF2B5EF4-FFF2-40B4-BE49-F238E27FC236}">
                <a16:creationId xmlns:a16="http://schemas.microsoft.com/office/drawing/2014/main" id="{5C6CF6FA-2482-4546-9BE1-2C693C04A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623466" y="2875327"/>
            <a:ext cx="1656000" cy="1656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E5BF8-B883-4420-9EA9-7E920E5D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329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5181600" y="557784"/>
            <a:ext cx="6248399" cy="3840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6000" u="sng" dirty="0">
                <a:solidFill>
                  <a:srgbClr val="0070C0"/>
                </a:solidFill>
              </a:rPr>
              <a:t>Template Editing Instructions and Feedback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632A65-4DB8-40F7-92EA-A338699F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Custom 5">
      <a:majorFont>
        <a:latin typeface="Franklin Gothic Demi"/>
        <a:ea typeface=""/>
        <a:cs typeface=""/>
      </a:majorFont>
      <a:minorFont>
        <a:latin typeface="Franklin Gothic Medium"/>
        <a:ea typeface=""/>
        <a:cs typeface="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7150"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33527777_Safety procedures_RVA_v4" id="{94FF351A-4B06-4881-8D26-DC6D64B3CFD2}" vid="{E8C023A2-25EA-47E0-92DC-6E1BD008E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5429E6-13D0-4D69-B2AD-EDA3074FAB41}">
  <we:reference id="wa104381063" version="1.0.0.0" store="en-US" storeType="OMEX"/>
  <we:alternateReferences>
    <we:reference id="wa104381063" version="1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46B2BE6-8FE9-4318-AA40-8F70CEED60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6DFB17-E262-4301-8AA5-FCE7109ED8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F39AE0-32C9-4F1D-B08C-0B8B9BAFC18D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Safety procedures</Template>
  <TotalTime>0</TotalTime>
  <Words>294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Corbel</vt:lpstr>
      <vt:lpstr>Franklin Gothic Demi</vt:lpstr>
      <vt:lpstr>Franklin Gothic Medium</vt:lpstr>
      <vt:lpstr>Segoe UI</vt:lpstr>
      <vt:lpstr>Segoe UI Semibold</vt:lpstr>
      <vt:lpstr>Headlines</vt:lpstr>
      <vt:lpstr>Self Learning  101</vt:lpstr>
      <vt:lpstr>How do we learn?</vt:lpstr>
      <vt:lpstr>Reinforcement Learning 101</vt:lpstr>
      <vt:lpstr>VARIANTS OF RL</vt:lpstr>
      <vt:lpstr>SHELTER IN PLACE</vt:lpstr>
      <vt:lpstr>LOCK DOWN</vt:lpstr>
      <vt:lpstr>WEATHER EMERGENCY</vt:lpstr>
      <vt:lpstr>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2024-09-26T10:44:12Z</dcterms:created>
  <dcterms:modified xsi:type="dcterms:W3CDTF">2024-09-26T12:06:32Z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